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sldIdLst>
    <p:sldId id="283" r:id="rId2"/>
    <p:sldId id="279" r:id="rId3"/>
    <p:sldId id="259" r:id="rId4"/>
    <p:sldId id="280" r:id="rId5"/>
    <p:sldId id="281" r:id="rId6"/>
    <p:sldId id="260" r:id="rId7"/>
    <p:sldId id="28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9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8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72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81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53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99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25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87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85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5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85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673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690813" y="337305"/>
            <a:ext cx="2890837" cy="94883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Chapter 01</a:t>
            </a:r>
            <a:endParaRPr lang="en-US" sz="3200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955741"/>
            <a:ext cx="12192000" cy="1646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Vertical Scroll 4"/>
          <p:cNvSpPr/>
          <p:nvPr/>
        </p:nvSpPr>
        <p:spPr>
          <a:xfrm>
            <a:off x="1071562" y="1430020"/>
            <a:ext cx="7391501" cy="4247449"/>
          </a:xfrm>
          <a:prstGeom prst="verticalScroll">
            <a:avLst/>
          </a:prstGeom>
          <a:solidFill>
            <a:schemeClr val="accent1">
              <a:lumMod val="50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3600" b="1" dirty="0">
                <a:solidFill>
                  <a:srgbClr val="FFFF00"/>
                </a:solidFill>
              </a:rPr>
              <a:t>Database</a:t>
            </a:r>
            <a:r>
              <a:rPr lang="en-US" sz="3600" dirty="0"/>
              <a:t> </a:t>
            </a:r>
            <a:endParaRPr lang="en-US" sz="3600" dirty="0" smtClean="0"/>
          </a:p>
          <a:p>
            <a:pPr marL="571500" indent="-571500" algn="ctr">
              <a:buFont typeface="Wingdings" panose="05000000000000000000" pitchFamily="2" charset="2"/>
              <a:buChar char="ü"/>
            </a:pPr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Server.</a:t>
            </a:r>
            <a:endParaRPr lang="en-US" sz="3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0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547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is a structured collection of data that is organized and stored in a way that allows for efficient retrieval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management, and manipulation of information.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Retrieval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finding the information you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need.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organizing and storing information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properly.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editing or changing the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are used to store and manage large amounts of data in a secure and organized manner.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183835" y="350981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latin typeface="Arial Black" panose="020B0A04020102020204" pitchFamily="34" charset="0"/>
              </a:rPr>
              <a:t>What is Database?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30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73" y="1825625"/>
            <a:ext cx="11471563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have changed a lot over many years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databases were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network-based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they were not very flexible and could not grow easily.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1970s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type called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introduced.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model improved how data is organized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became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commonly used type of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838200" y="378691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latin typeface="Arial Black" panose="020B0A04020102020204" pitchFamily="34" charset="0"/>
              </a:rPr>
              <a:t> History of </a:t>
            </a:r>
            <a:r>
              <a:rPr lang="en-US" sz="3200" b="1" dirty="0" smtClean="0">
                <a:latin typeface="Arial Black" panose="020B0A04020102020204" pitchFamily="34" charset="0"/>
              </a:rPr>
              <a:t>Databases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38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database that organizes data like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piece of data is connected to other data.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database, data is stored 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parent–child relationship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One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record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have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many child records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each child usually has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parent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(parent) can have many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(children), and each department can have many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hierarchical database stores information 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structure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main record connects to other smaller records under 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Horizontal Scroll 3"/>
          <p:cNvSpPr/>
          <p:nvPr/>
        </p:nvSpPr>
        <p:spPr>
          <a:xfrm>
            <a:off x="1183835" y="489527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Hierarchical databases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16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rizontal Scroll 4"/>
          <p:cNvSpPr/>
          <p:nvPr/>
        </p:nvSpPr>
        <p:spPr>
          <a:xfrm>
            <a:off x="1095178" y="249381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Hierarchical databases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62" y="1169890"/>
            <a:ext cx="9917545" cy="557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2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databases are the most common type of database.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relational database, data is stored in tables, which are similar to spreadsheets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connect tables so the database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and retrieve data from different tables easily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183835" y="341746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latin typeface="Arial Black" panose="020B0A04020102020204" pitchFamily="34" charset="0"/>
              </a:rPr>
              <a:t>Relational </a:t>
            </a:r>
            <a:r>
              <a:rPr lang="en-US" sz="2800" dirty="0" smtClean="0">
                <a:latin typeface="Arial Black" panose="020B0A04020102020204" pitchFamily="34" charset="0"/>
              </a:rPr>
              <a:t>Databases</a:t>
            </a:r>
            <a:endParaRPr lang="en-US" sz="28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6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9" y="1402326"/>
            <a:ext cx="5702377" cy="4109540"/>
          </a:xfrm>
        </p:spPr>
      </p:pic>
      <p:sp>
        <p:nvSpPr>
          <p:cNvPr id="5" name="Horizontal Scroll 4"/>
          <p:cNvSpPr/>
          <p:nvPr/>
        </p:nvSpPr>
        <p:spPr>
          <a:xfrm>
            <a:off x="1183835" y="56909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Relational Databases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 diagram showing the relationships between tables, illustrated by color-coded lines connecting primary and foreign key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011" y="1402326"/>
            <a:ext cx="6062970" cy="489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85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64" y="1517617"/>
            <a:ext cx="1099766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the standard language used to interact with and manage relational databases.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databases and tables, as well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SQL is a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language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means you tell the database what you want to do, and the database figures out how to do it.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Stand for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tructured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uery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anguage.</a:t>
            </a:r>
            <a:endParaRPr lang="en-US" sz="24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183835" y="173255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 smtClean="0">
                <a:latin typeface="Arial Black" panose="020B0A04020102020204" pitchFamily="34" charset="0"/>
              </a:rPr>
              <a:t>SQL </a:t>
            </a:r>
            <a:r>
              <a:rPr lang="en-US" sz="3200" dirty="0">
                <a:latin typeface="Arial Black" panose="020B0A04020102020204" pitchFamily="34" charset="0"/>
              </a:rPr>
              <a:t>(Structured Query Language</a:t>
            </a:r>
            <a:r>
              <a:rPr lang="en-US" sz="3200" dirty="0" smtClean="0">
                <a:latin typeface="Arial Black" panose="020B0A04020102020204" pitchFamily="34" charset="0"/>
              </a:rPr>
              <a:t>)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7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233" y="1309978"/>
            <a:ext cx="11351018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is a software application that allows users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databases.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popular DBMS include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provide features such as data security, transaction management, and backup and recovery.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orizontal Scroll 4"/>
          <p:cNvSpPr/>
          <p:nvPr/>
        </p:nvSpPr>
        <p:spPr>
          <a:xfrm>
            <a:off x="1247578" y="152400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latin typeface="Arial Black" panose="020B0A04020102020204" pitchFamily="34" charset="0"/>
              </a:rPr>
              <a:t>Database Management Systems (DBMS</a:t>
            </a:r>
            <a:r>
              <a:rPr lang="en-US" sz="2800" dirty="0" smtClean="0">
                <a:latin typeface="Arial Black" panose="020B0A04020102020204" pitchFamily="34" charset="0"/>
              </a:rPr>
              <a:t>)</a:t>
            </a:r>
            <a:endParaRPr lang="en-US" sz="28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193" y="1325112"/>
            <a:ext cx="11206115" cy="538048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fundamental skill for data professionals, including data analysts, data scientists, and database administrators.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is in high demand across various industries, as it is the primary language used to interact with and manage relational databases.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can open up a wide range of career opportunities and allow you to work with large and complex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95178" y="0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latin typeface="Arial Black" panose="020B0A04020102020204" pitchFamily="34" charset="0"/>
                <a:cs typeface="Times New Roman" panose="02020603050405020304" pitchFamily="18" charset="0"/>
              </a:rPr>
              <a:t>Why </a:t>
            </a:r>
            <a:r>
              <a:rPr lang="en-US" sz="280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We Learn </a:t>
            </a:r>
            <a:r>
              <a:rPr lang="en-US" sz="2800" dirty="0">
                <a:latin typeface="Arial Black" panose="020B0A04020102020204" pitchFamily="34" charset="0"/>
                <a:cs typeface="Times New Roman" panose="02020603050405020304" pitchFamily="18" charset="0"/>
              </a:rPr>
              <a:t>SQL</a:t>
            </a:r>
            <a:r>
              <a:rPr lang="en-US" sz="280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?</a:t>
            </a:r>
            <a:endParaRPr lang="en-US" sz="28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11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663" y="1556118"/>
            <a:ext cx="10929501" cy="47985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schema is the structure of the database, which defines the tables, columns, and relationships between them.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schema is created using SQL commands such as `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and `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TABLE`.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If the database structure (schema) is designed well, it helps </a:t>
            </a:r>
            <a:r>
              <a:rPr lang="en-US" sz="2400" b="1" dirty="0"/>
              <a:t>store, organize, and use data easily and efficiently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989300" y="192505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latin typeface="Arial Black" panose="020B0A04020102020204" pitchFamily="34" charset="0"/>
              </a:rPr>
              <a:t>Database </a:t>
            </a:r>
            <a:r>
              <a:rPr lang="en-US" sz="3600" dirty="0" smtClean="0">
                <a:latin typeface="Arial Black" panose="020B0A04020102020204" pitchFamily="34" charset="0"/>
              </a:rPr>
              <a:t>Schema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33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are the basic building blocks of a relational database.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composed of rows (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columns (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column has a specific data type, such as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27802" y="327259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latin typeface="Arial Black" panose="020B0A04020102020204" pitchFamily="34" charset="0"/>
              </a:rPr>
              <a:t>Tables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52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37" y="1373236"/>
            <a:ext cx="11367436" cy="497214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primary key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unique identifier for each row in a table.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ensure that each row in a table is unique and can be easily identified.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foreign key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column or a set of columns in a table that refers to the primary key of another table, establishing a relationship between the two tables.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08551" y="182880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Primary Keys and Foreign Keys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32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512" y="1084479"/>
            <a:ext cx="11251252" cy="474366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commands used to interact with and manipulate data in a database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SQL queries include `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and `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`.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can be simple (selecting all data from a table) or complex (joining multiple tables and applying filters).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36053" y="406400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latin typeface="Arial Black" panose="020B0A04020102020204" pitchFamily="34" charset="0"/>
              </a:rPr>
              <a:t>Queries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5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041" y="185615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statement is used to retrieve data from a database.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you to specify which columns you want to retrieve, and optionally filter the data using `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and other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users WHERE age &gt; 30;`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56677" y="231349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SELECT Statement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83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1" y="1671621"/>
            <a:ext cx="1069725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`INSERT` statement is used to add new data to a table.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`UPDATE` statement is used to modify existing data in a table.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`DELETE` statement is used to remove data from a table.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95177" y="462012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latin typeface="Arial Black" panose="020B0A04020102020204" pitchFamily="34" charset="0"/>
              </a:rPr>
              <a:t>INSERT, UPDATE, and DELETE Statements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8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combine rows from two or more tables based on a related column between them.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types of joins include `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JOIN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and `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JOIN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allow you to retrieve data from multiple tables in a single query.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08551" y="173255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Joins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4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292" y="177808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 functions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perform calculations on multiple rows and return a single value.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`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`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and `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functions are often used in combination with `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to group data by one or more columns.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75927" y="476888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latin typeface="Arial Black" panose="020B0A04020102020204" pitchFamily="34" charset="0"/>
              </a:rPr>
              <a:t>Aggregation Functions</a:t>
            </a:r>
            <a:endParaRPr lang="en-US" sz="28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77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541" y="1498366"/>
            <a:ext cx="10805149" cy="51056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Subqueries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queries that are nested within other queries.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 query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query inside another query.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parts of a query.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 queries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for more complex and powerful database queries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 query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within another query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it can be placed in different parts of the main query to help get the needed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95177" y="221673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 smtClean="0">
                <a:latin typeface="Arial Black" panose="020B0A04020102020204" pitchFamily="34" charset="0"/>
              </a:rPr>
              <a:t>Sub queries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88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289" y="140211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data structures that improve the speed of data retrieval from a database.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can be created on one or more columns in a table.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can significantly improve the performance of queries, especially for large datasets.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998925" y="86627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Indexes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57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09" y="1557479"/>
            <a:ext cx="1169634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 sequence of database operations that must be completed as a single unit.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makes sure that </a:t>
            </a:r>
            <a:r>
              <a:rPr lang="en-US" sz="2400" b="1" dirty="0"/>
              <a:t>all operations in the transaction are completed successfully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If any operation fails, </a:t>
            </a:r>
            <a:r>
              <a:rPr lang="en-US" sz="2400" b="1" dirty="0"/>
              <a:t>all changes are canceled (rolled back</a:t>
            </a:r>
            <a:r>
              <a:rPr lang="en-US" sz="2400" b="1" dirty="0" smtClean="0"/>
              <a:t>)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A transaction means </a:t>
            </a:r>
            <a:r>
              <a:rPr lang="en-US" sz="2400" b="1" dirty="0"/>
              <a:t>either all the work is done successfully, or none of it is saved</a:t>
            </a:r>
            <a:r>
              <a:rPr lang="en-US" sz="2400" dirty="0"/>
              <a:t>. This keeps the data correct.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984341" y="443346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latin typeface="Arial Black" panose="020B0A04020102020204" pitchFamily="34" charset="0"/>
              </a:rPr>
              <a:t>Transactions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68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291" y="1450240"/>
            <a:ext cx="11118408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security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essential to protect data from unauthorized access, modification, or deletion.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 include user authentication, access control, encryption,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backup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recovery procedures.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for database security should be implemented to ensure the confidentiality, integrity, and availability of data.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75927" y="182880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Database </a:t>
            </a:r>
            <a:r>
              <a:rPr lang="en-US" sz="3200" dirty="0" smtClean="0">
                <a:latin typeface="Arial Black" panose="020B0A04020102020204" pitchFamily="34" charset="0"/>
              </a:rPr>
              <a:t>Security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3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258808" y="577516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What Students Need to </a:t>
            </a:r>
            <a:r>
              <a:rPr lang="en-US" sz="3200" dirty="0" smtClean="0">
                <a:latin typeface="Arial Black" panose="020B0A04020102020204" pitchFamily="34" charset="0"/>
              </a:rPr>
              <a:t>Install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21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907" y="1161482"/>
            <a:ext cx="11675798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are the backbone of many modern applications and have been widely adopted across various industries.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fundamentals of SQL databases, including concepts like tables, queries, joins, and security, is crucial for anyone working with data.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and staying up-to-date with the latest developments in database technology is important for data professionals.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3"/>
          <p:cNvSpPr/>
          <p:nvPr/>
        </p:nvSpPr>
        <p:spPr>
          <a:xfrm>
            <a:off x="1095178" y="0"/>
            <a:ext cx="9824329" cy="92050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latin typeface="Arial Black" panose="020B0A04020102020204" pitchFamily="34" charset="0"/>
              </a:rPr>
              <a:t>Conclusion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39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948623" y="1134987"/>
            <a:ext cx="5317588" cy="9144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3"/>
          </a:lnRef>
          <a:fillRef idx="1002">
            <a:schemeClr val="dk1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Next Chapter 02 </a:t>
            </a:r>
            <a:endParaRPr lang="en-US" sz="4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016992" y="2922663"/>
            <a:ext cx="8917082" cy="1902158"/>
          </a:xfrm>
          <a:prstGeom prst="roundRect">
            <a:avLst/>
          </a:prstGeom>
          <a:solidFill>
            <a:schemeClr val="accent1">
              <a:lumMod val="50000"/>
            </a:schemeClr>
          </a:solidFill>
          <a:scene3d>
            <a:camera prst="perspectiveHeroicExtremeRightFacing"/>
            <a:lightRig rig="threePt" dir="t"/>
          </a:scene3d>
        </p:spPr>
        <p:style>
          <a:lnRef idx="2">
            <a:schemeClr val="accent4">
              <a:shade val="50000"/>
            </a:schemeClr>
          </a:lnRef>
          <a:fillRef idx="1002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 dirty="0"/>
              <a:t>SQL Basic</a:t>
            </a:r>
            <a:endParaRPr lang="en-US" sz="4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6343650" y="2171700"/>
            <a:ext cx="263767" cy="62865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6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1762</TotalTime>
  <Words>1294</Words>
  <Application>Microsoft Office PowerPoint</Application>
  <PresentationFormat>Widescreen</PresentationFormat>
  <Paragraphs>106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Aharoni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Windows User</cp:lastModifiedBy>
  <cp:revision>54</cp:revision>
  <dcterms:created xsi:type="dcterms:W3CDTF">2024-05-28T08:45:32Z</dcterms:created>
  <dcterms:modified xsi:type="dcterms:W3CDTF">2026-03-05T08:54:32Z</dcterms:modified>
</cp:coreProperties>
</file>